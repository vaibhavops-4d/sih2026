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lean_to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94560" cy="1051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7437A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60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1E1E"/>
                </a:solidFill>
                <a:latin typeface="Times New Roman"/>
              </a:defRPr>
            </a:pPr>
            <a:r>
              <a:t>TITLE PAGE</a:t>
            </a:r>
          </a:p>
        </p:txBody>
      </p:sp>
      <p:pic>
        <p:nvPicPr>
          <p:cNvPr id="8" name="Picture 7" descr="sih_clean_brai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75488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• </a:t>
            </a:r>
            <a:r>
              <a:rPr sz="1400" b="1">
                <a:solidFill>
                  <a:srgbClr val="1E1E1E"/>
                </a:solidFill>
                <a:latin typeface="Calibri"/>
              </a:rPr>
              <a:t>Problem Statement ID –</a:t>
            </a:r>
            <a:r>
              <a:rPr sz="1400" b="0">
                <a:solidFill>
                  <a:srgbClr val="0E4E94"/>
                </a:solidFill>
                <a:latin typeface="Calibri"/>
              </a:rPr>
              <a:t> SIH26092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• </a:t>
            </a:r>
            <a:r>
              <a:rPr sz="1400" b="1">
                <a:solidFill>
                  <a:srgbClr val="1E1E1E"/>
                </a:solidFill>
                <a:latin typeface="Calibri"/>
              </a:rPr>
              <a:t>Problem Statement Title –</a:t>
            </a:r>
            <a:r>
              <a:rPr sz="1400" b="0">
                <a:solidFill>
                  <a:srgbClr val="0E4E94"/>
                </a:solidFill>
                <a:latin typeface="Calibri"/>
              </a:rPr>
              <a:t> AI-Driven Scheme Matching for Marginalized Entrepreneurs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• </a:t>
            </a:r>
            <a:r>
              <a:rPr sz="1400" b="1">
                <a:solidFill>
                  <a:srgbClr val="1E1E1E"/>
                </a:solidFill>
                <a:latin typeface="Calibri"/>
              </a:rPr>
              <a:t>Theme –</a:t>
            </a:r>
            <a:r>
              <a:rPr sz="1400" b="0">
                <a:solidFill>
                  <a:srgbClr val="0E4E94"/>
                </a:solidFill>
                <a:latin typeface="Calibri"/>
              </a:rPr>
              <a:t> Smart Automation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• </a:t>
            </a:r>
            <a:r>
              <a:rPr sz="1400" b="1">
                <a:solidFill>
                  <a:srgbClr val="1E1E1E"/>
                </a:solidFill>
                <a:latin typeface="Calibri"/>
              </a:rPr>
              <a:t>PS Category –</a:t>
            </a:r>
            <a:r>
              <a:rPr sz="1400" b="0">
                <a:solidFill>
                  <a:srgbClr val="0E4E94"/>
                </a:solidFill>
                <a:latin typeface="Calibri"/>
              </a:rPr>
              <a:t> Software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• </a:t>
            </a:r>
            <a:r>
              <a:rPr sz="1400" b="1">
                <a:solidFill>
                  <a:srgbClr val="1E1E1E"/>
                </a:solidFill>
                <a:latin typeface="Calibri"/>
              </a:rPr>
              <a:t>Team ID –</a:t>
            </a:r>
            <a:r>
              <a:rPr sz="1400" b="0">
                <a:solidFill>
                  <a:srgbClr val="0E4E94"/>
                </a:solidFill>
                <a:latin typeface="Calibri"/>
              </a:rPr>
              <a:t> [Your Registered Team ID]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• </a:t>
            </a:r>
            <a:r>
              <a:rPr sz="1400" b="1">
                <a:solidFill>
                  <a:srgbClr val="1E1E1E"/>
                </a:solidFill>
                <a:latin typeface="Calibri"/>
              </a:rPr>
              <a:t>Team Name (Registered on portal) –</a:t>
            </a:r>
            <a:r>
              <a:rPr sz="1400" b="0">
                <a:solidFill>
                  <a:srgbClr val="0E4E94"/>
                </a:solidFill>
                <a:latin typeface="Calibri"/>
              </a:rPr>
              <a:t> CODE CATALYST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• </a:t>
            </a:r>
            <a:r>
              <a:rPr sz="1400" b="1">
                <a:solidFill>
                  <a:srgbClr val="1E1E1E"/>
                </a:solidFill>
                <a:latin typeface="Calibri"/>
              </a:rPr>
              <a:t>Idea Title –</a:t>
            </a:r>
            <a:r>
              <a:rPr sz="1400" b="0">
                <a:solidFill>
                  <a:srgbClr val="0E4E94"/>
                </a:solidFill>
                <a:latin typeface="Calibri"/>
              </a:rPr>
              <a:t> UdyamSetu AI (Voice-First Discovery &amp; Automated Micro-DPR Engine)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• </a:t>
            </a:r>
            <a:r>
              <a:rPr sz="1400" b="1">
                <a:solidFill>
                  <a:srgbClr val="1E1E1E"/>
                </a:solidFill>
                <a:latin typeface="Calibri"/>
              </a:rPr>
              <a:t>Live Deployed Platform –</a:t>
            </a:r>
            <a:r>
              <a:rPr sz="1400" b="0">
                <a:solidFill>
                  <a:srgbClr val="0E4E94"/>
                </a:solidFill>
                <a:latin typeface="Calibri"/>
              </a:rPr>
              <a:t> https://sih-2026-gold-gamma.vercel.app/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lean_to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94560" cy="1051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64592"/>
            <a:ext cx="155448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1E1E"/>
                </a:solidFill>
                <a:latin typeface="Calibri"/>
              </a:defRPr>
            </a:pPr>
            <a:r>
              <a:t>CODE</a:t>
            </a:r>
            <a:br/>
            <a: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IDEA TITLE: UDYAMSETU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11274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4E94"/>
                </a:solidFill>
                <a:latin typeface="Calibri"/>
              </a:defRPr>
            </a:pPr>
            <a:r>
              <a:t>❖Proposed Solution (Describe your Idea/Solution/Prototype)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3931920" cy="4736592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36192"/>
            <a:ext cx="37124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1">
                <a:solidFill>
                  <a:srgbClr val="0E4E94"/>
                </a:solidFill>
                <a:latin typeface="Calibri"/>
              </a:defRPr>
            </a:pPr>
            <a:r>
              <a:t>• Detailed explanation of the proposed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2"/>
            <a:ext cx="3712463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020824"/>
            <a:ext cx="36027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4E94"/>
                </a:solidFill>
                <a:latin typeface="Calibri"/>
              </a:rPr>
              <a:t>▪ Voice-First Indic Conversational Intake:</a:t>
            </a:r>
            <a:r>
              <a:rPr sz="919" b="0">
                <a:solidFill>
                  <a:srgbClr val="1E1E1E"/>
                </a:solidFill>
                <a:latin typeface="Calibri"/>
              </a:rPr>
              <a:t> Project Bhashini IndicASR in 12+ regional languages transcribes rural dialects into structured profile parameters with zero typing.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26664"/>
            <a:ext cx="3712463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054096"/>
            <a:ext cx="36027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4E94"/>
                </a:solidFill>
                <a:latin typeface="Calibri"/>
              </a:rPr>
              <a:t>▪ Deterministic Scheme Match Engine:</a:t>
            </a:r>
            <a:r>
              <a:rPr sz="919" b="0">
                <a:solidFill>
                  <a:srgbClr val="1E1E1E"/>
                </a:solidFill>
                <a:latin typeface="Calibri"/>
              </a:rPr>
              <a:t> 100% mathematical zero-hallucination engine evaluates 300+ schemes (NSFDC, NBCFDC, PMEGP, Mudra) by income, caste, and business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59935"/>
            <a:ext cx="3712463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087368"/>
            <a:ext cx="36027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4E94"/>
                </a:solidFill>
                <a:latin typeface="Calibri"/>
              </a:rPr>
              <a:t>▪ Automated Bank-Grade Micro-DPR Engine:</a:t>
            </a:r>
            <a:r>
              <a:rPr sz="919" b="0">
                <a:solidFill>
                  <a:srgbClr val="1E1E1E"/>
                </a:solidFill>
                <a:latin typeface="Calibri"/>
              </a:rPr>
              <a:t> Instantly compiles a standardized 1-page financial Detailed Project Report with CapEx/OpEx, unit economics, and verified DSCR (≥1.5x).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3208"/>
            <a:ext cx="3712463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120640"/>
            <a:ext cx="36027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4E94"/>
                </a:solidFill>
                <a:latin typeface="Calibri"/>
              </a:rPr>
              <a:t>▪ Missing Document &amp; Actionable Resolver:</a:t>
            </a:r>
            <a:r>
              <a:rPr sz="919" b="0">
                <a:solidFill>
                  <a:srgbClr val="1E1E1E"/>
                </a:solidFill>
                <a:latin typeface="Calibri"/>
              </a:rPr>
              <a:t> Pinpoints exact missing statutory certificates and provides step-by-step nearest CSC/Tehsil guidance rather than dead-end rejection.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1481328"/>
            <a:ext cx="3154680" cy="47365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554480"/>
            <a:ext cx="2971800" cy="59436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0E4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80" b="1">
                <a:solidFill>
                  <a:srgbClr val="0E4E94"/>
                </a:solidFill>
                <a:latin typeface="Calibri"/>
              </a:defRPr>
            </a:pPr>
            <a:r>
              <a:t>🌉 THE ENTERPRISE BRIDGE</a:t>
            </a:r>
          </a:p>
          <a:p>
            <a:pPr algn="ctr">
              <a:defRPr sz="850" b="1">
                <a:solidFill>
                  <a:srgbClr val="1E1E1E"/>
                </a:solidFill>
                <a:latin typeface="Calibri"/>
              </a:defRPr>
            </a:pPr>
            <a:r>
              <a:t>Spoken Intent ➔ Bankable Welfare Loan</a:t>
            </a:r>
          </a:p>
        </p:txBody>
      </p:sp>
      <p:pic>
        <p:nvPicPr>
          <p:cNvPr id="21" name="Picture 20" descr="udyamsetu_solution_concep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212848"/>
            <a:ext cx="2971800" cy="26974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617720" y="4983480"/>
            <a:ext cx="2971800" cy="1143000"/>
          </a:xfrm>
          <a:prstGeom prst="roundRect">
            <a:avLst/>
          </a:prstGeom>
          <a:solidFill>
            <a:srgbClr val="EEFAF2"/>
          </a:solidFill>
          <a:ln w="12700">
            <a:solidFill>
              <a:srgbClr val="16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68A4F"/>
                </a:solidFill>
                <a:latin typeface="Calibri"/>
              </a:defRPr>
            </a:pPr>
            <a:r>
              <a:t>⚡ Instant 3-Minute Scheme Match</a:t>
            </a:r>
          </a:p>
          <a:p>
            <a:pPr algn="ctr">
              <a:defRPr sz="819">
                <a:solidFill>
                  <a:srgbClr val="1E1E1E"/>
                </a:solidFill>
                <a:latin typeface="Calibri"/>
              </a:defRPr>
            </a:pPr>
            <a:r>
              <a:t>100% Free Public Welfare Engine for Grassroots Entrepreneurs</a:t>
            </a:r>
          </a:p>
          <a:p>
            <a:pPr algn="ctr">
              <a:defRPr sz="800" b="1">
                <a:solidFill>
                  <a:srgbClr val="0E4E94"/>
                </a:solidFill>
                <a:latin typeface="Calibri"/>
              </a:defRPr>
            </a:pPr>
            <a:r>
              <a:t>Live on Vercel: https://sih-2026-gold-gamma.vercel.app/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481328"/>
            <a:ext cx="3913632" cy="196596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1517904"/>
            <a:ext cx="3694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0E4E94"/>
                </a:solidFill>
                <a:latin typeface="Calibri"/>
              </a:defRPr>
            </a:pPr>
            <a:r>
              <a:t>• How it addresses the problem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27848" y="1874519"/>
            <a:ext cx="369417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1883663"/>
            <a:ext cx="3584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0E4E94"/>
                </a:solidFill>
                <a:latin typeface="Calibri"/>
              </a:rPr>
              <a:t>▪ Bypasses Literacy Barriers:</a:t>
            </a:r>
            <a:r>
              <a:rPr sz="850" b="0">
                <a:solidFill>
                  <a:srgbClr val="1E1E1E"/>
                </a:solidFill>
                <a:latin typeface="Calibri"/>
              </a:rPr>
              <a:t> Natural voice in mother tongues replaces 50-page complex circulars &amp; digital portal forms.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27848" y="2377439"/>
            <a:ext cx="369417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2712" y="2386583"/>
            <a:ext cx="3584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0E4E94"/>
                </a:solidFill>
                <a:latin typeface="Calibri"/>
              </a:rPr>
              <a:t>▪ Eliminates Middlemen Extortion:</a:t>
            </a:r>
            <a:r>
              <a:rPr sz="850" b="0">
                <a:solidFill>
                  <a:srgbClr val="1E1E1E"/>
                </a:solidFill>
                <a:latin typeface="Calibri"/>
              </a:rPr>
              <a:t> Stops predatory touts from charging ₹5k–₹10k for basic welfare loan applications.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7848" y="2880360"/>
            <a:ext cx="369417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2889503"/>
            <a:ext cx="3584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0E4E94"/>
                </a:solidFill>
                <a:latin typeface="Calibri"/>
              </a:rPr>
              <a:t>▪ Breaks the 'DPR Wall':</a:t>
            </a:r>
            <a:r>
              <a:rPr sz="850" b="0">
                <a:solidFill>
                  <a:srgbClr val="1E1E1E"/>
                </a:solidFill>
                <a:latin typeface="Calibri"/>
              </a:rPr>
              <a:t> Eliminates #1 bank counter rejection cause by generating standardized unit economics (DSCR ≥ 1.5x).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3520440"/>
            <a:ext cx="3913632" cy="26974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3557016"/>
            <a:ext cx="3694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0E4E94"/>
                </a:solidFill>
                <a:latin typeface="Calibri"/>
              </a:defRPr>
            </a:pPr>
            <a:r>
              <a:t>• Innovation and uniqueness of the solution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7848" y="3913632"/>
            <a:ext cx="369417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2712" y="3922776"/>
            <a:ext cx="35844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0E4E94"/>
                </a:solidFill>
                <a:latin typeface="Calibri"/>
              </a:rPr>
              <a:t>▪ Strict Zero-Hallucination Sandbox:</a:t>
            </a:r>
            <a:r>
              <a:rPr sz="840" b="0">
                <a:solidFill>
                  <a:srgbClr val="1E1E1E"/>
                </a:solidFill>
                <a:latin typeface="Calibri"/>
              </a:rPr>
              <a:t> NLP entity parser strictly decoupled from deterministic mathematical rule engine for 100% policy compliance.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27848" y="4471416"/>
            <a:ext cx="369417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82712" y="4480560"/>
            <a:ext cx="35844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0E4E94"/>
                </a:solidFill>
                <a:latin typeface="Calibri"/>
              </a:rPr>
              <a:t>▪ Reverse Subsidy Grant Maximizer:</a:t>
            </a:r>
            <a:r>
              <a:rPr sz="840" b="0">
                <a:solidFill>
                  <a:srgbClr val="1E1E1E"/>
                </a:solidFill>
                <a:latin typeface="Calibri"/>
              </a:rPr>
              <a:t> Multi-scheme optimizer bundles &amp; ranks schemes maximizing non-repayable capital subsidies (up to 35% grant).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7848" y="5029200"/>
            <a:ext cx="369417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2712" y="5038344"/>
            <a:ext cx="35844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0E4E94"/>
                </a:solidFill>
                <a:latin typeface="Calibri"/>
              </a:rPr>
              <a:t>▪ Actionable Remediation (No Dead-Ends):</a:t>
            </a:r>
            <a:r>
              <a:rPr sz="840" b="0">
                <a:solidFill>
                  <a:srgbClr val="1E1E1E"/>
                </a:solidFill>
                <a:latin typeface="Calibri"/>
              </a:rPr>
              <a:t> Replaces binary rejections with step-by-step guidance &amp; nearest CSC/Tehsil resolution for missing documents.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27848" y="5586984"/>
            <a:ext cx="369417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2712" y="5596128"/>
            <a:ext cx="35844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0E4E94"/>
                </a:solidFill>
                <a:latin typeface="Calibri"/>
              </a:rPr>
              <a:t>▪ Phygital GTM &amp; Shadow-Zone Reach:</a:t>
            </a:r>
            <a:r>
              <a:rPr sz="840" b="0">
                <a:solidFill>
                  <a:srgbClr val="1E1E1E"/>
                </a:solidFill>
                <a:latin typeface="Calibri"/>
              </a:rPr>
              <a:t> Direct PWA + CSC VLE / Bank Mitra assisted mode with IVR callback for non-smartphone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lean_to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94560" cy="1051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64592"/>
            <a:ext cx="155448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1E1E"/>
                </a:solidFill>
                <a:latin typeface="Calibri"/>
              </a:defRPr>
            </a:pPr>
            <a:r>
              <a:t>CODE</a:t>
            </a:r>
            <a:br/>
            <a: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49834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618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4E94"/>
                </a:solidFill>
                <a:latin typeface="Calibri"/>
              </a:defRPr>
            </a:pPr>
            <a:r>
              <a:t>• Technologies to be used (e.g. programming languages, frameworks, hardware)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10512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E4E94"/>
                </a:solidFill>
                <a:latin typeface="Calibri"/>
              </a:rPr>
              <a:t>▪ Frontend &amp; UI Layer:</a:t>
            </a:r>
            <a:r>
              <a:rPr sz="980" b="0">
                <a:solidFill>
                  <a:srgbClr val="1E1E1E"/>
                </a:solidFill>
                <a:latin typeface="Calibri"/>
              </a:rPr>
              <a:t> Next.js / React Progressive Web App (PWA), Tailwind CSS (Offline-ready, ultra-light for 3G/4G rural mobile).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05456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23744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E4E94"/>
                </a:solidFill>
                <a:latin typeface="Calibri"/>
              </a:rPr>
              <a:t>▪ Speech &amp; Language AI:</a:t>
            </a:r>
            <a:r>
              <a:rPr sz="980" b="0">
                <a:solidFill>
                  <a:srgbClr val="1E1E1E"/>
                </a:solidFill>
                <a:latin typeface="Calibri"/>
              </a:rPr>
              <a:t> MeitY Project Bhashini IndicASR &amp; Web Speech API (12+ regional Indic dialects &amp; accents).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004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18688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E4E94"/>
                </a:solidFill>
                <a:latin typeface="Calibri"/>
              </a:rPr>
              <a:t>▪ Backend &amp; Microservices:</a:t>
            </a:r>
            <a:r>
              <a:rPr sz="980" b="0">
                <a:solidFill>
                  <a:srgbClr val="1E1E1E"/>
                </a:solidFill>
                <a:latin typeface="Calibri"/>
              </a:rPr>
              <a:t> Python FastAPI (high-concurrency asynchronous API engine) + Pydantic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95344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1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E4E94"/>
                </a:solidFill>
                <a:latin typeface="Calibri"/>
              </a:rPr>
              <a:t>▪ NLP &amp; Entity Parsing:</a:t>
            </a:r>
            <a:r>
              <a:rPr sz="980" b="0">
                <a:solidFill>
                  <a:srgbClr val="1E1E1E"/>
                </a:solidFill>
                <a:latin typeface="Calibri"/>
              </a:rPr>
              <a:t> Gemini 2.5 Flash / LangChain (Zero-shot conversational JSON parameter extraction).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90288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608575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E4E94"/>
                </a:solidFill>
                <a:latin typeface="Calibri"/>
              </a:rPr>
              <a:t>▪ Document Vision &amp; OCR:</a:t>
            </a:r>
            <a:r>
              <a:rPr sz="980" b="0">
                <a:solidFill>
                  <a:srgbClr val="1E1E1E"/>
                </a:solidFill>
                <a:latin typeface="Calibri"/>
              </a:rPr>
              <a:t> OpenCV (Laplacian variance blur detector) + Tesseract OCR &amp; state e-District QR verification.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85231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303519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E4E94"/>
                </a:solidFill>
                <a:latin typeface="Calibri"/>
              </a:rPr>
              <a:t>▪ DPR &amp; Financial Engine:</a:t>
            </a:r>
            <a:r>
              <a:rPr sz="980" b="0">
                <a:solidFill>
                  <a:srgbClr val="1E1E1E"/>
                </a:solidFill>
                <a:latin typeface="Calibri"/>
              </a:rPr>
              <a:t> Automated KVIC Cash-Flow Underwriter + ReportLab / pdf-lib dynamic 1-page DPR generator.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1188720"/>
            <a:ext cx="5833872" cy="49834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26187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4E94"/>
                </a:solidFill>
                <a:latin typeface="Calibri"/>
              </a:defRPr>
            </a:pPr>
            <a:r>
              <a:t>• Methodology and process for implementation (Flow Charts/Images/ working prototype)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810512"/>
            <a:ext cx="5577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08192" y="1901952"/>
            <a:ext cx="658368" cy="384048"/>
          </a:xfrm>
          <a:prstGeom prst="roundRect">
            <a:avLst/>
          </a:prstGeom>
          <a:solidFill>
            <a:srgbClr val="0E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Phase 1: Identity &amp; Auth: </a:t>
            </a:r>
            <a:r>
              <a:rPr sz="950" b="0">
                <a:solidFill>
                  <a:srgbClr val="1E1E1E"/>
                </a:solidFill>
                <a:latin typeface="Calibri"/>
              </a:rPr>
              <a:t>Citizen enters Aadhaar; Verhoeff checksum algorithm validates format; simulated DigiLocker Sandbox verifies OTP.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450591"/>
            <a:ext cx="5577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08192" y="2542032"/>
            <a:ext cx="658368" cy="384048"/>
          </a:xfrm>
          <a:prstGeom prst="roundRect">
            <a:avLst/>
          </a:prstGeom>
          <a:solidFill>
            <a:srgbClr val="0E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46887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Phase 2: Indic Voice Intake: </a:t>
            </a:r>
            <a:r>
              <a:rPr sz="950" b="0">
                <a:solidFill>
                  <a:srgbClr val="1E1E1E"/>
                </a:solidFill>
                <a:latin typeface="Calibri"/>
              </a:rPr>
              <a:t>Citizen speaks business intent in mother tongue ('Need ₹3L for tailoring'); Bhashini transcribes dialect to structured JSON.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090672"/>
            <a:ext cx="5577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08192" y="3182112"/>
            <a:ext cx="658368" cy="384048"/>
          </a:xfrm>
          <a:prstGeom prst="roundRect">
            <a:avLst/>
          </a:prstGeom>
          <a:solidFill>
            <a:srgbClr val="0E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08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Phase 3: Deterministic Match: </a:t>
            </a:r>
            <a:r>
              <a:rPr sz="950" b="0">
                <a:solidFill>
                  <a:srgbClr val="1E1E1E"/>
                </a:solidFill>
                <a:latin typeface="Calibri"/>
              </a:rPr>
              <a:t>Zero-hallucination rule engine compares 300+ schemes (NSFDC/NBCFDC/PMEGP/Mudra) and ranks by max subsidy grant.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730752"/>
            <a:ext cx="5577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08192" y="3822191"/>
            <a:ext cx="658368" cy="384048"/>
          </a:xfrm>
          <a:prstGeom prst="roundRect">
            <a:avLst/>
          </a:prstGeom>
          <a:solidFill>
            <a:srgbClr val="0E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P-4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7490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Phase 4: Document Pre-Flight: </a:t>
            </a:r>
            <a:r>
              <a:rPr sz="950" b="0">
                <a:solidFill>
                  <a:srgbClr val="1E1E1E"/>
                </a:solidFill>
                <a:latin typeface="Calibri"/>
              </a:rPr>
              <a:t>OpenCV scans uploaded certificates; rejects blurry photos; verifies name consistency and expiration dates.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4370831"/>
            <a:ext cx="5577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08192" y="4462271"/>
            <a:ext cx="658368" cy="384048"/>
          </a:xfrm>
          <a:prstGeom prst="roundRect">
            <a:avLst/>
          </a:prstGeom>
          <a:solidFill>
            <a:srgbClr val="0E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P-5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3891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Phase 5: Auto-DPR Engine: </a:t>
            </a:r>
            <a:r>
              <a:rPr sz="950" b="0">
                <a:solidFill>
                  <a:srgbClr val="1E1E1E"/>
                </a:solidFill>
                <a:latin typeface="Calibri"/>
              </a:rPr>
              <a:t>Scales KVIC unit economics into instant bank-grade 1-page DPR with verified CapEx/OpEx and 2.1x DSCR ratio.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5010912"/>
            <a:ext cx="5577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08192" y="5102352"/>
            <a:ext cx="658368" cy="384048"/>
          </a:xfrm>
          <a:prstGeom prst="roundRect">
            <a:avLst/>
          </a:prstGeom>
          <a:solidFill>
            <a:srgbClr val="0E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P-6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029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Phase 6: SCA &amp; Bank Dispatch: </a:t>
            </a:r>
            <a:r>
              <a:rPr sz="950" b="0">
                <a:solidFill>
                  <a:srgbClr val="1E1E1E"/>
                </a:solidFill>
                <a:latin typeface="Calibri"/>
              </a:rPr>
              <a:t>1-Click e-sign packages KYC + DPR; routes to State Channelizing Agency &amp; Lead Bank with real-time SMS tracking.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5687568"/>
            <a:ext cx="5577840" cy="402336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0E4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4E94"/>
                </a:solidFill>
                <a:latin typeface="Calibri"/>
              </a:defRPr>
            </a:pPr>
            <a:r>
              <a:t>⚡ Live Platform: https://sih-2026-gold-gamma.vercel.app/ | 100% Zero-Hallucination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lean_to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94560" cy="1051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64592"/>
            <a:ext cx="155448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1E1E"/>
                </a:solidFill>
                <a:latin typeface="Calibri"/>
              </a:defRPr>
            </a:pPr>
            <a:r>
              <a:t>CODE</a:t>
            </a:r>
            <a:br/>
            <a: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566160" cy="49834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43584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4E94"/>
                </a:solidFill>
                <a:latin typeface="Calibri"/>
              </a:defRPr>
            </a:pPr>
            <a:r>
              <a:t>• Analysis of the feasibility of the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3346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47088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Technical Feasibility:</a:t>
            </a:r>
            <a:r>
              <a:rPr sz="950" b="0">
                <a:solidFill>
                  <a:srgbClr val="1E1E1E"/>
                </a:solidFill>
                <a:latin typeface="Calibri"/>
              </a:rPr>
              <a:t> Lightweight Next.js PWA runs seamlessly on low-cost entry-level smartphones ($40 / ₹3,000) with zero heavy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34640"/>
            <a:ext cx="3346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71216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Operational Feasibility:</a:t>
            </a:r>
            <a:r>
              <a:rPr sz="950" b="0">
                <a:solidFill>
                  <a:srgbClr val="1E1E1E"/>
                </a:solidFill>
                <a:latin typeface="Calibri"/>
              </a:rPr>
              <a:t> Integrates existing mature open IndiaStack APIs (Bhashini, DigiLocker, Aadhaar) with zero model-training overhead.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58768"/>
            <a:ext cx="3346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95344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GTM &amp; Phygital Scale:</a:t>
            </a:r>
            <a:r>
              <a:rPr sz="950" b="0">
                <a:solidFill>
                  <a:srgbClr val="1E1E1E"/>
                </a:solidFill>
                <a:latin typeface="Calibri"/>
              </a:rPr>
              <a:t> Deploys across India's 5.5 Lakh Common Service Centres (CSCs) and Toll-Free IVR callbacks for non-smartphones.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82896"/>
            <a:ext cx="3346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1947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Financial Feasibility:</a:t>
            </a:r>
            <a:r>
              <a:rPr sz="950" b="0">
                <a:solidFill>
                  <a:srgbClr val="1E1E1E"/>
                </a:solidFill>
                <a:latin typeface="Calibri"/>
              </a:rPr>
              <a:t> B2B PSL sourcing fees + MoSJE SaaS analytics licensing ensure long-term self-sustaining operations (Citizen pays ₹0).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188720"/>
            <a:ext cx="3931920" cy="49834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1243584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4E94"/>
                </a:solidFill>
                <a:latin typeface="Calibri"/>
              </a:defRPr>
            </a:pPr>
            <a:r>
              <a:t>• Potential challenges, risks &amp; strategies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1810512"/>
            <a:ext cx="3703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1837943"/>
            <a:ext cx="354787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 b="1">
                <a:solidFill>
                  <a:srgbClr val="C83C14"/>
                </a:solidFill>
                <a:latin typeface="Calibri"/>
              </a:rPr>
              <a:t>⚠️ Rural Dialect &amp; Background Noise:</a:t>
            </a:r>
          </a:p>
          <a:p>
            <a:r>
              <a:rPr sz="919" b="1">
                <a:solidFill>
                  <a:srgbClr val="168A4F"/>
                </a:solidFill>
                <a:latin typeface="Calibri"/>
              </a:rPr>
              <a:t>➔ Solution: </a:t>
            </a:r>
            <a:r>
              <a:rPr sz="919" b="0">
                <a:solidFill>
                  <a:srgbClr val="1E1E1E"/>
                </a:solidFill>
                <a:latin typeface="Calibri"/>
              </a:rPr>
              <a:t> Dual-Mode Fallback: Interactive touchscreen sliders auto-activate if speech confidence &lt; 85%.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2834640"/>
            <a:ext cx="3703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2862072"/>
            <a:ext cx="354787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 b="1">
                <a:solidFill>
                  <a:srgbClr val="C83C14"/>
                </a:solidFill>
                <a:latin typeface="Calibri"/>
              </a:rPr>
              <a:t>⚠️ Document Fraud &amp; Camera Blur:</a:t>
            </a:r>
          </a:p>
          <a:p>
            <a:r>
              <a:rPr sz="919" b="1">
                <a:solidFill>
                  <a:srgbClr val="168A4F"/>
                </a:solidFill>
                <a:latin typeface="Calibri"/>
              </a:rPr>
              <a:t>➔ Solution: </a:t>
            </a:r>
            <a:r>
              <a:rPr sz="919" b="0">
                <a:solidFill>
                  <a:srgbClr val="1E1E1E"/>
                </a:solidFill>
                <a:latin typeface="Calibri"/>
              </a:rPr>
              <a:t> OpenCV Laplacian Filter rejects blurry uploads; validates state e-District SHA-256 QR codes.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3858768"/>
            <a:ext cx="3703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3886200"/>
            <a:ext cx="354787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 b="1">
                <a:solidFill>
                  <a:srgbClr val="C83C14"/>
                </a:solidFill>
                <a:latin typeface="Calibri"/>
              </a:rPr>
              <a:t>⚠️ Bank Branch Underwriting Skepticism:</a:t>
            </a:r>
          </a:p>
          <a:p>
            <a:r>
              <a:rPr sz="919" b="1">
                <a:solidFill>
                  <a:srgbClr val="168A4F"/>
                </a:solidFill>
                <a:latin typeface="Calibri"/>
              </a:rPr>
              <a:t>➔ Solution: </a:t>
            </a:r>
            <a:r>
              <a:rPr sz="919" b="0">
                <a:solidFill>
                  <a:srgbClr val="1E1E1E"/>
                </a:solidFill>
                <a:latin typeface="Calibri"/>
              </a:rPr>
              <a:t> Bankable Micro-DPR: Guarantees pre-calculated Debt Service Coverage Ratio (DSCR ≥ 1.5x).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4882896"/>
            <a:ext cx="3703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4910328"/>
            <a:ext cx="354787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 b="1">
                <a:solidFill>
                  <a:srgbClr val="C83C14"/>
                </a:solidFill>
                <a:latin typeface="Calibri"/>
              </a:rPr>
              <a:t>⚠️ Frequent Scheme Regulatory Updates:</a:t>
            </a:r>
          </a:p>
          <a:p>
            <a:r>
              <a:rPr sz="919" b="1">
                <a:solidFill>
                  <a:srgbClr val="168A4F"/>
                </a:solidFill>
                <a:latin typeface="Calibri"/>
              </a:rPr>
              <a:t>➔ Solution: </a:t>
            </a:r>
            <a:r>
              <a:rPr sz="919" b="0">
                <a:solidFill>
                  <a:srgbClr val="1E1E1E"/>
                </a:solidFill>
                <a:latin typeface="Calibri"/>
              </a:rPr>
              <a:t> Dynamic Cloud Rule Engine: Redis caching updates statutory criteria instantly with 0 app rebuilds.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188720"/>
            <a:ext cx="3474720" cy="49834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1243584"/>
            <a:ext cx="32552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4E94"/>
                </a:solidFill>
                <a:latin typeface="Calibri"/>
              </a:defRPr>
            </a:pPr>
            <a:r>
              <a:t>• Financial viability &amp; ecosystem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810512"/>
            <a:ext cx="3200400" cy="777240"/>
          </a:xfrm>
          <a:prstGeom prst="roundRect">
            <a:avLst/>
          </a:prstGeom>
          <a:solidFill>
            <a:srgbClr val="EEFAF2"/>
          </a:solidFill>
          <a:ln w="12700">
            <a:solidFill>
              <a:srgbClr val="16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8A4F"/>
                </a:solidFill>
                <a:latin typeface="Calibri"/>
              </a:defRPr>
            </a:pPr>
            <a:r>
              <a:t>👤 Grassroots Beneficiaries (SC/ST/OBC)</a:t>
            </a:r>
          </a:p>
          <a:p>
            <a:pPr algn="ctr">
              <a:defRPr sz="850">
                <a:solidFill>
                  <a:srgbClr val="1E1E1E"/>
                </a:solidFill>
                <a:latin typeface="Calibri"/>
              </a:defRPr>
            </a:pPr>
            <a:r>
              <a:t>100% Free Citizen Access (₹0 Fee) | Multilingual 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5877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E4E94"/>
                </a:solidFill>
              </a:defRPr>
            </a:pPr>
            <a: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2880360"/>
            <a:ext cx="3200400" cy="77724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0E4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4E94"/>
                </a:solidFill>
                <a:latin typeface="Calibri"/>
              </a:defRPr>
            </a:pPr>
            <a:r>
              <a:t>⚙️ UdyamSetu AI Core Engine</a:t>
            </a:r>
          </a:p>
          <a:p>
            <a:pPr algn="ctr">
              <a:defRPr sz="850">
                <a:solidFill>
                  <a:srgbClr val="1E1E1E"/>
                </a:solidFill>
                <a:latin typeface="Calibri"/>
              </a:defRPr>
            </a:pPr>
            <a:r>
              <a:t>Pre-Underwriting, Scheme Match &amp; Bankable DPR Generator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657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E4E94"/>
                </a:solidFill>
              </a:defRPr>
            </a:pPr>
            <a: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950208"/>
            <a:ext cx="3200400" cy="1051560"/>
          </a:xfrm>
          <a:prstGeom prst="roundRect">
            <a:avLst/>
          </a:prstGeom>
          <a:solidFill>
            <a:srgbClr val="FEF3EB"/>
          </a:solidFill>
          <a:ln w="12700">
            <a:solidFill>
              <a:srgbClr val="EA5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C2B"/>
                </a:solidFill>
                <a:latin typeface="Calibri"/>
              </a:defRPr>
            </a:pPr>
            <a:r>
              <a:t>💼 Dual Institutional Revenue Model</a:t>
            </a:r>
          </a:p>
          <a:p>
            <a:pPr>
              <a:defRPr sz="850">
                <a:solidFill>
                  <a:srgbClr val="1E1E1E"/>
                </a:solidFill>
                <a:latin typeface="Calibri"/>
              </a:defRPr>
            </a:pPr>
            <a:r>
              <a:t>1. B2B Bank PSL Sourcing Fee (0.5%–1.0% per disbursed loan)</a:t>
            </a:r>
            <a:br/>
            <a:r>
              <a:t>2. B2G MoSJE / SCA SaaS Analytics &amp; DBT Monitoring License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5138928"/>
            <a:ext cx="3200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4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E4E94"/>
                </a:solidFill>
                <a:latin typeface="Calibri"/>
              </a:defRPr>
            </a:pPr>
            <a:r>
              <a:t>✨ Self-Sustaining Public-Good</a:t>
            </a:r>
          </a:p>
          <a:p>
            <a:pPr algn="ctr">
              <a:defRPr sz="850">
                <a:solidFill>
                  <a:srgbClr val="1E1E1E"/>
                </a:solidFill>
                <a:latin typeface="Calibri"/>
              </a:defRPr>
            </a:pPr>
            <a:r>
              <a:t>100% Free Public Welfare Engine Funded via Banking PSL Priority Quotas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lean_to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94560" cy="1051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64592"/>
            <a:ext cx="155448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1E1E"/>
                </a:solidFill>
                <a:latin typeface="Calibri"/>
              </a:defRPr>
            </a:pPr>
            <a:r>
              <a:t>CODE</a:t>
            </a:r>
            <a:br/>
            <a: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4114800" cy="49834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43584"/>
            <a:ext cx="3886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4E94"/>
                </a:solidFill>
                <a:latin typeface="Calibri"/>
              </a:defRPr>
            </a:pPr>
            <a:r>
              <a:t>• Potential impact on the target audience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3886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37943"/>
            <a:ext cx="374903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Scale of Outreach:</a:t>
            </a:r>
            <a:r>
              <a:rPr sz="950" b="0">
                <a:solidFill>
                  <a:srgbClr val="1E1E1E"/>
                </a:solidFill>
                <a:latin typeface="Calibri"/>
              </a:rPr>
              <a:t> Directly empowers 63+ Million MSMEs, rural artisans, and SC/ST/OBC/Women micro-entrepreneurs across India.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15184"/>
            <a:ext cx="3886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5"/>
            <a:ext cx="374903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Turnaround Slashed:</a:t>
            </a:r>
            <a:r>
              <a:rPr sz="950" b="0">
                <a:solidFill>
                  <a:srgbClr val="1E1E1E"/>
                </a:solidFill>
                <a:latin typeface="Calibri"/>
              </a:rPr>
              <a:t> Slashes scheme discovery-to-application cycle from 45 days of office visits to under 5 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19856"/>
            <a:ext cx="3886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47288"/>
            <a:ext cx="374903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Rejection Collapse:</a:t>
            </a:r>
            <a:r>
              <a:rPr sz="950" b="0">
                <a:solidFill>
                  <a:srgbClr val="1E1E1E"/>
                </a:solidFill>
                <a:latin typeface="Calibri"/>
              </a:rPr>
              <a:t> Reduces bank branch clerical rejections from ~45% to under 5% via automated pre-flight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4528"/>
            <a:ext cx="3886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374903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Financial Savings:</a:t>
            </a:r>
            <a:r>
              <a:rPr sz="950" b="0">
                <a:solidFill>
                  <a:srgbClr val="1E1E1E"/>
                </a:solidFill>
                <a:latin typeface="Calibri"/>
              </a:rPr>
              <a:t> Saves impoverished rural borrowers ₹5,000–₹10,000 per application in unauthorized middleman tout fees.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29200"/>
            <a:ext cx="3886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56632"/>
            <a:ext cx="374903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Interactive PoC:</a:t>
            </a:r>
            <a:r>
              <a:rPr sz="950" b="0">
                <a:solidFill>
                  <a:srgbClr val="1E1E1E"/>
                </a:solidFill>
                <a:latin typeface="Calibri"/>
              </a:rPr>
              <a:t> Live client-driven interactive prototype built and tested across 12+ traditional trades with instant DPR export.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1188720"/>
            <a:ext cx="2468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00600" y="1261872"/>
            <a:ext cx="2286000" cy="74980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0E4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4E94"/>
                </a:solidFill>
                <a:latin typeface="Calibri"/>
              </a:defRPr>
            </a:pPr>
            <a:r>
              <a:t>🎯 MISSION TARGET</a:t>
            </a:r>
          </a:p>
          <a:p>
            <a:pPr algn="ctr">
              <a:defRPr sz="880" b="1">
                <a:solidFill>
                  <a:srgbClr val="1E1E1E"/>
                </a:solidFill>
                <a:latin typeface="Calibri"/>
              </a:defRPr>
            </a:pPr>
            <a:r>
              <a:t>100% Last-Mile Inclusion</a:t>
            </a:r>
          </a:p>
        </p:txBody>
      </p:sp>
      <p:pic>
        <p:nvPicPr>
          <p:cNvPr id="22" name="Picture 21" descr="impact_target_bullsey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66543"/>
            <a:ext cx="2103120" cy="21031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800600" y="4279392"/>
            <a:ext cx="2286000" cy="868680"/>
          </a:xfrm>
          <a:prstGeom prst="roundRect">
            <a:avLst/>
          </a:prstGeom>
          <a:solidFill>
            <a:srgbClr val="FEF3EB"/>
          </a:solidFill>
          <a:ln w="12700">
            <a:solidFill>
              <a:srgbClr val="EA5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C2B"/>
                </a:solidFill>
                <a:latin typeface="Calibri"/>
              </a:defRPr>
            </a:pPr>
            <a:r>
              <a:t>⚡ 45 Days ➔ &lt; 5 Mins</a:t>
            </a:r>
          </a:p>
          <a:p>
            <a:pPr algn="ctr">
              <a:defRPr sz="850">
                <a:solidFill>
                  <a:srgbClr val="1E1E1E"/>
                </a:solidFill>
                <a:latin typeface="Calibri"/>
              </a:defRPr>
            </a:pPr>
            <a:r>
              <a:t>90% Drop in Loan Processing Friction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5212080"/>
            <a:ext cx="2286000" cy="868680"/>
          </a:xfrm>
          <a:prstGeom prst="roundRect">
            <a:avLst/>
          </a:prstGeom>
          <a:solidFill>
            <a:srgbClr val="EEFAF2"/>
          </a:solidFill>
          <a:ln w="12700">
            <a:solidFill>
              <a:srgbClr val="168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8A4F"/>
                </a:solidFill>
                <a:latin typeface="Calibri"/>
              </a:defRPr>
            </a:pPr>
            <a:r>
              <a:t>💰 ₹0 Citizen Cost</a:t>
            </a:r>
          </a:p>
          <a:p>
            <a:pPr algn="ctr">
              <a:defRPr sz="850">
                <a:solidFill>
                  <a:srgbClr val="1E1E1E"/>
                </a:solidFill>
                <a:latin typeface="Calibri"/>
              </a:defRPr>
            </a:pPr>
            <a:r>
              <a:t>100% Direct Benefit Transfer (DBT)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188720"/>
            <a:ext cx="4389120" cy="498348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7" y="1243584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4E94"/>
                </a:solidFill>
                <a:latin typeface="Calibri"/>
              </a:defRPr>
            </a:pPr>
            <a:r>
              <a:t>• Benefits of the solution (social, economic, environmental, etc.)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24927" y="1810512"/>
            <a:ext cx="4160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1837943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Economic Empowerment:</a:t>
            </a:r>
            <a:r>
              <a:rPr sz="950" b="0">
                <a:solidFill>
                  <a:srgbClr val="1E1E1E"/>
                </a:solidFill>
                <a:latin typeface="Calibri"/>
              </a:rPr>
              <a:t> Unlocks thousands of crores in unutilized MoSJE capital subsidies (NSFDC/NBCFDC/PMEGP) into village assets.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24927" y="2615184"/>
            <a:ext cx="4160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2642615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Social Inclusion &amp; Dignity:</a:t>
            </a:r>
            <a:r>
              <a:rPr sz="950" b="0">
                <a:solidFill>
                  <a:srgbClr val="1E1E1E"/>
                </a:solidFill>
                <a:latin typeface="Calibri"/>
              </a:rPr>
              <a:t> Enables illiterate and marginalized women/SHGs to access formal bank credit with complete independence.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24927" y="3419856"/>
            <a:ext cx="4160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3447288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Administrative Efficiency:</a:t>
            </a:r>
            <a:r>
              <a:rPr sz="950" b="0">
                <a:solidFill>
                  <a:srgbClr val="1E1E1E"/>
                </a:solidFill>
                <a:latin typeface="Calibri"/>
              </a:rPr>
              <a:t> State Channelizing Agencies (SCAs) receive pre-underwritten applications with zero manual backlogs.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24927" y="4224528"/>
            <a:ext cx="4160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4251960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Governance Transparency:</a:t>
            </a:r>
            <a:r>
              <a:rPr sz="950" b="0">
                <a:solidFill>
                  <a:srgbClr val="1E1E1E"/>
                </a:solidFill>
                <a:latin typeface="Calibri"/>
              </a:rPr>
              <a:t> 100% auditable digital trail with Direct Benefit Transfer (DBT) tracking, eliminating leakages.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24927" y="5029200"/>
            <a:ext cx="4160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056632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>
                <a:solidFill>
                  <a:srgbClr val="0E4E94"/>
                </a:solidFill>
                <a:latin typeface="Calibri"/>
              </a:rPr>
              <a:t>▪ Environmental Sustainability:</a:t>
            </a:r>
            <a:r>
              <a:rPr sz="950" b="0">
                <a:solidFill>
                  <a:srgbClr val="1E1E1E"/>
                </a:solidFill>
                <a:latin typeface="Calibri"/>
              </a:rPr>
              <a:t> Completely paperless green workflow eliminating hundreds of physical photocopies and travel emissions.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lean_to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2194560" cy="1051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64592"/>
            <a:ext cx="155448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1E1E"/>
                </a:solidFill>
                <a:latin typeface="Calibri"/>
              </a:defRPr>
            </a:pPr>
            <a:r>
              <a:t>CODE</a:t>
            </a:r>
            <a:br/>
            <a: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1E1E"/>
                </a:solidFill>
                <a:latin typeface="Calibri"/>
              </a:defRPr>
            </a:pPr>
            <a:r>
              <a:t>• Details / Links of the reference and research work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4E94"/>
                </a:solidFill>
                <a:latin typeface="Calibri"/>
              </a:rPr>
              <a:t>   • 1. Reserve Bank of India (RBI) — UK Sinha Expert Committee Report on MSMEs (2019):</a:t>
            </a:r>
            <a:r>
              <a:rPr sz="1050" b="0">
                <a:solidFill>
                  <a:srgbClr val="1E1E1E"/>
                </a:solidFill>
                <a:latin typeface="Calibri"/>
              </a:rPr>
              <a:t> Documented ₹25 Lakh Cr credit gap and mandated transition to cash-flow-based automated underwriting.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4E94"/>
                </a:solidFill>
                <a:latin typeface="Calibri"/>
              </a:rPr>
              <a:t>   • 2. Parliament of India (Lok Sabha Standing Committee on MoSJE):</a:t>
            </a:r>
            <a:r>
              <a:rPr sz="1050" b="0">
                <a:solidFill>
                  <a:srgbClr val="1E1E1E"/>
                </a:solidFill>
                <a:latin typeface="Calibri"/>
              </a:rPr>
              <a:t> Annual Review on Apex Corporations (NSFDC/NBCFDC) highlighting SCA channelizing and document bottlenecks.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4E94"/>
                </a:solidFill>
                <a:latin typeface="Calibri"/>
              </a:rPr>
              <a:t>   • 3. NITI Aayog — Digital Financial Inclusion for Micro-Enterprises:</a:t>
            </a:r>
            <a:r>
              <a:rPr sz="1050" b="0">
                <a:solidFill>
                  <a:srgbClr val="1E1E1E"/>
                </a:solidFill>
                <a:latin typeface="Calibri"/>
              </a:rPr>
              <a:t> Policy brief advocating Voice-First Vernacular AI in regional dialects to eliminate digital portal drop-off rates.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4E94"/>
                </a:solidFill>
                <a:latin typeface="Calibri"/>
              </a:rPr>
              <a:t>   • 4. Ministry of Electronics and IT (MeitY) — Project Bhashini:</a:t>
            </a:r>
            <a:r>
              <a:rPr sz="1050" b="0">
                <a:solidFill>
                  <a:srgbClr val="1E1E1E"/>
                </a:solidFill>
                <a:latin typeface="Calibri"/>
              </a:rPr>
              <a:t> Research proving conversational voice AI increases G2C citizen welfare completion rates by 300%.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4E94"/>
                </a:solidFill>
                <a:latin typeface="Calibri"/>
              </a:rPr>
              <a:t>   • 5. MIT J-PAL &amp; Harvard University (Abhijit Banerjee, Esther Duflo, et al.):</a:t>
            </a:r>
            <a:r>
              <a:rPr sz="1050" b="0">
                <a:solidFill>
                  <a:srgbClr val="1E1E1E"/>
                </a:solidFill>
                <a:latin typeface="Calibri"/>
              </a:rPr>
              <a:t> 'Overcoming Administrative Friction in Credit' proving automated pre-underwriting increases formal credit uptake by 42%.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4E94"/>
                </a:solidFill>
                <a:latin typeface="Calibri"/>
              </a:rPr>
              <a:t>   • 6. World Bank / CGAP:</a:t>
            </a:r>
            <a:r>
              <a:rPr sz="1050" b="0">
                <a:solidFill>
                  <a:srgbClr val="1E1E1E"/>
                </a:solidFill>
                <a:latin typeface="Calibri"/>
              </a:rPr>
              <a:t> 'Automated Micro-Project Underwriting' validating that standardized unit-economics DPRs reduce micro-loan bank defaults (NPAs) by 28%.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4E94"/>
                </a:solidFill>
                <a:latin typeface="Calibri"/>
              </a:rPr>
              <a:t>   • 7. Ministry of MSME &amp; KVIC:</a:t>
            </a:r>
            <a:r>
              <a:rPr sz="1050" b="0">
                <a:solidFill>
                  <a:srgbClr val="1E1E1E"/>
                </a:solidFill>
                <a:latin typeface="Calibri"/>
              </a:rPr>
              <a:t> Standard Model Project Profiles (2024) establishing CapEx, OpEx, and DSCR benchmarks across 200+ traditional manufacturing and service trades.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4E94"/>
                </a:solidFill>
                <a:latin typeface="Calibri"/>
              </a:rPr>
              <a:t>   • 8. Department of Financial Services (DFS) &amp; SIDBI:</a:t>
            </a:r>
            <a:r>
              <a:rPr sz="1050" b="0">
                <a:solidFill>
                  <a:srgbClr val="1E1E1E"/>
                </a:solidFill>
                <a:latin typeface="Calibri"/>
              </a:rPr>
              <a:t> Stand-Up India and PM-Mudra statutory lending guidelines for Women, SC, and ST entrepreneurs.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